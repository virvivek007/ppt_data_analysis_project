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Avg Price by Overall Quality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 Price ($K)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Poor (1-2)</c:v>
                  </c:pt>
                  <c:pt idx="1">
                    <c:v>Fair (3-4)</c:v>
                  </c:pt>
                  <c:pt idx="2">
                    <c:v>Average (5-6)</c:v>
                  </c:pt>
                  <c:pt idx="3">
                    <c:v>Good (7-8)</c:v>
                  </c:pt>
                  <c:pt idx="4">
                    <c:v>Excellent (9-10)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112</c:v>
                </c:pt>
                <c:pt idx="2">
                  <c:v>163</c:v>
                </c:pt>
                <c:pt idx="3">
                  <c:v>232</c:v>
                </c:pt>
                <c:pt idx="4">
                  <c:v>387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Property Type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Property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4FC3F7"/>
              </a:solidFill>
              <a:effectLst/>
            </c:spPr>
          </c:dPt>
          <c:dPt>
            <c:idx val="2"/>
            <c:bubble3D val="0"/>
            <c:spPr>
              <a:solidFill>
                <a:srgbClr val="FFD54F"/>
              </a:solidFill>
              <a:effectLst/>
            </c:spPr>
          </c:dPt>
          <c:dPt>
            <c:idx val="3"/>
            <c:bubble3D val="0"/>
            <c:spPr>
              <a:solidFill>
                <a:srgbClr val="43A04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1-Story</c:v>
                </c:pt>
                <c:pt idx="1">
                  <c:v>2-Story</c:v>
                </c:pt>
                <c:pt idx="2">
                  <c:v>1.5-Story</c:v>
                </c:pt>
                <c:pt idx="3">
                  <c:v>Split/Other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46</c:v>
                </c:pt>
                <c:pt idx="1">
                  <c:v>37</c:v>
                </c:pt>
                <c:pt idx="2">
                  <c:v>10</c:v>
                </c:pt>
                <c:pt idx="3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R² Score Comparison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D5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Linear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</c:v>
                </c:pt>
                <c:pt idx="1">
                  <c:v>0.78</c:v>
                </c:pt>
                <c:pt idx="2">
                  <c:v>0.91</c:v>
                </c:pt>
                <c:pt idx="3">
                  <c:v>0.94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73152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House Price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&amp; Machine Learning Approach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Modeling  |  ML Algorithms  |  Market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 &amp;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474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pricing is complex and opaque — buyers, sellers, and agents struggle to determine fair market value accurately.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estimates often deviate by 10–30% from actual sale prices, leading to financial losses.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Goal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using historical housing data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features that drive house prices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model accuracy with statistical metrics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insights for stakeholders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617720"/>
            <a:ext cx="2743200" cy="4297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4636008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~$400K  Avg US Home Price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4617720"/>
            <a:ext cx="2743200" cy="4297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4636008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10–30%  Manual Error Rate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4617720"/>
            <a:ext cx="2743200" cy="4297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4636008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 Our Approach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 &amp; Composition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Housing Dataset (Ames, Iowa)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201168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1,460 training records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explanatory features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prices from 2006–2010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numerical &amp; categorical variables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SalePrice (USD)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Predictive Features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4114800" cy="3200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OverallQual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GrLivArea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GarageCars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TotalBsmtSF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YearBuilt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Neighborhood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7823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cleaned: missing values imputed, outliers removed, skewed features log-transformed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Exploratory Data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577840" y="1005840"/>
          <a:ext cx="3383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343400"/>
            <a:ext cx="841248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Overall quality and above-ground living area together explain ~63% of price variance.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Modeling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011680" cy="292608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with regularization (Ridge/Lasso)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2011680" cy="2926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06040" y="19659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splits capturing feature interactions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2011680" cy="2926080"/>
          </a:xfrm>
          <a:prstGeom prst="rect">
            <a:avLst/>
          </a:prstGeom>
          <a:solidFill>
            <a:srgbClr val="4FC3F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 trees, reduces overfitting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12280" y="1051560"/>
            <a:ext cx="2011680" cy="2926080"/>
          </a:xfrm>
          <a:prstGeom prst="rect">
            <a:avLst/>
          </a:prstGeom>
          <a:solidFill>
            <a:srgbClr val="FFD54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03720" y="19659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— our best performer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Modeling Pipeline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434840"/>
            <a:ext cx="1600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434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(80/20)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65960" y="4663440"/>
            <a:ext cx="164592" cy="1371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2130552" y="4434840"/>
            <a:ext cx="1600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130552" y="4434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30752" y="4663440"/>
            <a:ext cx="164592" cy="1371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3" name="Shape 21"/>
          <p:cNvSpPr/>
          <p:nvPr/>
        </p:nvSpPr>
        <p:spPr>
          <a:xfrm>
            <a:off x="3895344" y="4434840"/>
            <a:ext cx="1600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895344" y="4434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(5-fold)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95544" y="4663440"/>
            <a:ext cx="164592" cy="1371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0136" y="4434840"/>
            <a:ext cx="1600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660136" y="4434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0336" y="4663440"/>
            <a:ext cx="164592" cy="1371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9" name="Shape 27"/>
          <p:cNvSpPr/>
          <p:nvPr/>
        </p:nvSpPr>
        <p:spPr>
          <a:xfrm>
            <a:off x="7424928" y="4434840"/>
            <a:ext cx="1600200" cy="59436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0" name="Text 28"/>
          <p:cNvSpPr/>
          <p:nvPr/>
        </p:nvSpPr>
        <p:spPr>
          <a:xfrm>
            <a:off x="7424928" y="4434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&amp; Results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Detailed Metrics (XGBoost)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63040"/>
          <a:ext cx="310896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$18,420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$12,310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 ± 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3840480"/>
            <a:ext cx="3108960" cy="59436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8" name="Text 4"/>
          <p:cNvSpPr/>
          <p:nvPr/>
        </p:nvSpPr>
        <p:spPr>
          <a:xfrm>
            <a:off x="5760720" y="3840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XGBoost — Best Model (R² = 0.94)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6"/>
          <p:cNvSpPr/>
          <p:nvPr/>
        </p:nvSpPr>
        <p:spPr>
          <a:xfrm>
            <a:off x="274320" y="47823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reported on held-out test set (20%). Cross-validation used to prevent data leakage.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Statistical Validation &amp; Hypothesis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241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Overall quality score does NOT significantly predict sale price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3990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Overall quality score IS a significant predictor of sale price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F4F7F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920240"/>
            <a:ext cx="91440" cy="77724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75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T-Test (High vs Low Quality)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0" y="1975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[$48K, $62K]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2057400"/>
            <a:ext cx="1280160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F4F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834640"/>
            <a:ext cx="91440" cy="77724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889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Pearson Correlation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31920" y="28895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0.79, p &lt; 0.001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32186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significant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2971800"/>
            <a:ext cx="1280160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2971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F4F7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749040"/>
            <a:ext cx="91440" cy="77724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039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ANOVA (All Quality Levels)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931920" y="3803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312.4, p &lt; 0.001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133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differ significantly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3886200"/>
            <a:ext cx="1280160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3886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Reject H₀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All tests confirm quality score is a highly significant predictor at α = 0.05 level.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&amp;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41248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64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XGBoost achieved 94% accuracy (R²) in predicting house prices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04872"/>
            <a:ext cx="841248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7802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Overall quality, living area &amp; garage capacity are the top 3 drivers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18104"/>
            <a:ext cx="841248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912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Hypothesis tests confirm quality score as a statistically significant predictor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831336"/>
            <a:ext cx="841248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90448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Model can reduce pricing error from ~20% to ~7% for agents &amp; buyers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902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Next Step: Deploy model as a web app for real-time price estimation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47472"/>
            <a:ext cx="2331720" cy="822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93408" y="38404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6-WEEK INTERNSHIP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93408" y="713232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ANALYSIS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492240" y="1371600"/>
            <a:ext cx="2377440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943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HOUSE PRICE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457200" y="13258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10" name="Shape 7"/>
          <p:cNvSpPr/>
          <p:nvPr/>
        </p:nvSpPr>
        <p:spPr>
          <a:xfrm>
            <a:off x="457200" y="2240280"/>
            <a:ext cx="5303520" cy="50292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3774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&amp; Machine Learning Approach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5760720" cy="960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0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70432" y="29900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Vivek Kumar Tiwari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170432" y="3355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 |  Data Analysis  |  Apex Planet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57200" y="4005072"/>
            <a:ext cx="2697480" cy="685800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9651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41056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1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 PLANET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05840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91840" y="4005072"/>
            <a:ext cx="2926080" cy="6858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09651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840480" y="41056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840480" y="43891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Modeling  |  EDA  |  Machine Learning  |  Hypothesis Testing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</dc:title>
  <dc:subject>PptxGenJS Presentation</dc:subject>
  <dc:creator>PptxGenJS</dc:creator>
  <cp:lastModifiedBy>PptxGenJS</cp:lastModifiedBy>
  <cp:revision>1</cp:revision>
  <dcterms:created xsi:type="dcterms:W3CDTF">2026-05-02T05:19:09Z</dcterms:created>
  <dcterms:modified xsi:type="dcterms:W3CDTF">2026-05-02T05:19:09Z</dcterms:modified>
</cp:coreProperties>
</file>